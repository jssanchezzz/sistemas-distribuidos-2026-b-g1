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123B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2834640" cy="2834640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320040"/>
            <a:ext cx="1463040" cy="1463040"/>
          </a:xfrm>
          <a:prstGeom prst="ellipse">
            <a:avLst/>
          </a:prstGeom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· CORTE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OptiView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para ópticas independientes en Colombia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examen visual a la entrega de las gafas, en un solo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989320"/>
            <a:ext cx="4937760" cy="0"/>
          </a:xfrm>
          <a:prstGeom prst="line">
            <a:avLst/>
          </a:prstGeom>
          <a:noFill/>
          <a:ln w="12700">
            <a:solidFill>
              <a:srgbClr val="2E5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incremento ejecutable · Java 21 · Spring Boot · React ·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Ópticas independientes que operan a punta de papel, hojas de cálculo y llamadas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78608" cy="2331720"/>
          </a:xfrm>
          <a:prstGeom prst="roundRect">
            <a:avLst>
              <a:gd name="adj" fmla="val 4706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736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ópticas en papel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044952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transcriben a mano y se pierden con el tiempo; nadie ve la evolución del paciente.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578608" cy="2331720"/>
          </a:xfrm>
          <a:prstGeom prst="roundRect">
            <a:avLst>
              <a:gd name="adj" fmla="val 4706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36" dirty="0"/>
          </a:p>
        </p:txBody>
      </p:sp>
      <p:sp>
        <p:nvSpPr>
          <p:cNvPr id="12" name="Text 10"/>
          <p:cNvSpPr/>
          <p:nvPr/>
        </p:nvSpPr>
        <p:spPr>
          <a:xfrm>
            <a:off x="3639312" y="2560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que se apagan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9312" y="3044952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enviada al laboratorio, la orden "desaparece" hasta que alguien llama a preguntar.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578608" cy="2331720"/>
          </a:xfrm>
          <a:prstGeom prst="roundRect">
            <a:avLst>
              <a:gd name="adj" fmla="val 4706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736" dirty="0"/>
          </a:p>
        </p:txBody>
      </p:sp>
      <p:sp>
        <p:nvSpPr>
          <p:cNvPr id="17" name="Text 15"/>
          <p:cNvSpPr/>
          <p:nvPr/>
        </p:nvSpPr>
        <p:spPr>
          <a:xfrm>
            <a:off x="6473952" y="2560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sin control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3044952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parciales que nadie concilia bien; flujo de caja impredecible.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578608" cy="2331720"/>
          </a:xfrm>
          <a:prstGeom prst="roundRect">
            <a:avLst>
              <a:gd name="adj" fmla="val 4706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736" dirty="0"/>
          </a:p>
        </p:txBody>
      </p:sp>
      <p:sp>
        <p:nvSpPr>
          <p:cNvPr id="22" name="Text 20"/>
          <p:cNvSpPr/>
          <p:nvPr/>
        </p:nvSpPr>
        <p:spPr>
          <a:xfrm>
            <a:off x="9308592" y="256032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que se olvidan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08592" y="3044952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alertas, los seguimientos de 12 meses simplemente no vuelven a citarse.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82528" cy="1600200"/>
          </a:xfrm>
          <a:prstGeom prst="roundRect">
            <a:avLst>
              <a:gd name="adj" fmla="val 6857"/>
            </a:avLst>
          </a:prstGeom>
          <a:solidFill>
            <a:srgbClr val="0B2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herramienta habla el idioma de la óptica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8006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 · CYL · AXIS · ADD · DP, monturas, laboratorio, OT — conceptos propios del negocio óptico que un ERP genérico o un Excel no modelan.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visión del producto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663440" cy="5074920"/>
          </a:xfrm>
          <a:prstGeom prst="roundRect">
            <a:avLst>
              <a:gd name="adj" fmla="val 2745"/>
            </a:avLst>
          </a:prstGeom>
          <a:solidFill>
            <a:srgbClr val="0B2B2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SaaS que unifica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fórmulas, órdenes de trabajo, inventario y facturación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un solo sistema — para que cada rol sepa siempre en qué va cada orden y cada paciente.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68680" y="4434840"/>
            <a:ext cx="3931920" cy="0"/>
          </a:xfrm>
          <a:prstGeom prst="line">
            <a:avLst/>
          </a:prstGeom>
          <a:noFill/>
          <a:ln w="12700">
            <a:solidFill>
              <a:srgbClr val="2E5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negocio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8646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a producción con una óptica piloto el 15 de noviembre de 2026 — fecha fija, no meta aspiracional.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0" y="1188720"/>
            <a:ext cx="6126480" cy="1170432"/>
          </a:xfrm>
          <a:prstGeom prst="roundRect">
            <a:avLst>
              <a:gd name="adj" fmla="val 7813"/>
            </a:avLst>
          </a:prstGeom>
          <a:solidFill>
            <a:srgbClr val="F1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5687568" y="149047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687568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736" dirty="0"/>
          </a:p>
        </p:txBody>
      </p:sp>
      <p:sp>
        <p:nvSpPr>
          <p:cNvPr id="12" name="Text 10"/>
          <p:cNvSpPr/>
          <p:nvPr/>
        </p:nvSpPr>
        <p:spPr>
          <a:xfrm>
            <a:off x="6446520" y="1316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estado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1645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cada orden se ve sin abrir el detalle: Cotización → Aprobada → Laboratorio → Lista → Entregada.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523744"/>
            <a:ext cx="6126480" cy="1170432"/>
          </a:xfrm>
          <a:prstGeom prst="roundRect">
            <a:avLst>
              <a:gd name="adj" fmla="val 7813"/>
            </a:avLst>
          </a:prstGeom>
          <a:solidFill>
            <a:srgbClr val="F1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7568" y="282549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1736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clínica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9809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fórmulas del paciente queda disponible en el tiempo, no en una carpeta de papel.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3858768"/>
            <a:ext cx="6126480" cy="1170432"/>
          </a:xfrm>
          <a:prstGeom prst="roundRect">
            <a:avLst>
              <a:gd name="adj" fmla="val 7813"/>
            </a:avLst>
          </a:prstGeom>
          <a:solidFill>
            <a:srgbClr val="F1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687568" y="41605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687568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36" dirty="0"/>
          </a:p>
        </p:txBody>
      </p:sp>
      <p:sp>
        <p:nvSpPr>
          <p:cNvPr id="22" name="Text 20"/>
          <p:cNvSpPr/>
          <p:nvPr/>
        </p:nvSpPr>
        <p:spPr>
          <a:xfrm>
            <a:off x="644652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43159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orden, descontar stock y registrar un pago toma minutos, no papeleo.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5193792"/>
            <a:ext cx="6126480" cy="1170432"/>
          </a:xfrm>
          <a:prstGeom prst="roundRect">
            <a:avLst>
              <a:gd name="adj" fmla="val 7813"/>
            </a:avLst>
          </a:prstGeom>
          <a:solidFill>
            <a:srgbClr val="F1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687568" y="549554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687568" y="5495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736" dirty="0"/>
          </a:p>
        </p:txBody>
      </p:sp>
      <p:sp>
        <p:nvSpPr>
          <p:cNvPr id="27" name="Text 25"/>
          <p:cNvSpPr/>
          <p:nvPr/>
        </p:nvSpPr>
        <p:spPr>
          <a:xfrm>
            <a:off x="6446520" y="5321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radical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56509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principal por pantalla — interfaz limpia, sin ruido, sin curva de entrenamiento.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1 — tres historias de usuario, de punta a punta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160520"/>
          </a:xfrm>
          <a:prstGeom prst="roundRect">
            <a:avLst>
              <a:gd name="adj" fmla="val 3590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paciente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3017520" cy="0"/>
          </a:xfrm>
          <a:prstGeom prst="line">
            <a:avLst/>
          </a:prstGeom>
          <a:noFill/>
          <a:ln w="12700">
            <a:solidFill>
              <a:srgbClr val="D7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GARANTIZA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único en el sistema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apellidos, teléfono y EPS obligatorios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566160" cy="4160520"/>
          </a:xfrm>
          <a:prstGeom prst="roundRect">
            <a:avLst>
              <a:gd name="adj" fmla="val 3590"/>
            </a:avLst>
          </a:prstGeom>
          <a:solidFill>
            <a:srgbClr val="0B2B2E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4708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8470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una montura en inventario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17720" y="3383280"/>
            <a:ext cx="3017520" cy="0"/>
          </a:xfrm>
          <a:prstGeom prst="line">
            <a:avLst/>
          </a:prstGeom>
          <a:noFill/>
          <a:ln w="12700">
            <a:solidFill>
              <a:srgbClr val="2E5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GARANTIZA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único por montura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709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≥ 0  ·  precio de venta ≥ costo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566160" cy="4160520"/>
          </a:xfrm>
          <a:prstGeom prst="roundRect">
            <a:avLst>
              <a:gd name="adj" fmla="val 3590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0" y="184708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8470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orden de trabajo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412480" y="3383280"/>
            <a:ext cx="3017520" cy="0"/>
          </a:xfrm>
          <a:prstGeom prst="line">
            <a:avLst/>
          </a:prstGeom>
          <a:noFill/>
          <a:ln w="12700">
            <a:solidFill>
              <a:srgbClr val="D7E9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GARANTIZA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paciente + montura con stock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 QUOTATION · descuenta 1 del stock · rechaza si no hay existencias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alcance: lentes/tratamientos en la orden, ventas y caja, facturación, reportes, gestión de usuarios, portal del paciente.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backend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 con Clean Architecture (scaffold Bancolombia) — sin microservicios en el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1F8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73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39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 · adaptadores JPA · JWT · BCrypt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2487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depende 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706624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712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2369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sin dependencias de 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6850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depende 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904488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value objects y reglas de negocio puras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23951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model no importa Spring ni JPA — los puertos (gateways) viven en el dominio; los adaptadores los implementan.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87452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1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22008" y="2093976"/>
            <a:ext cx="82296" cy="4572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984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2295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3.5 · Spring Security (JWT) · Spring Data JPA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92608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1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922008" y="3145536"/>
            <a:ext cx="82296" cy="4572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3467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migraciones versionadas con Flyway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97764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1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6922008" y="4197096"/>
            <a:ext cx="82296" cy="4572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4398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TypeScript · servido por Nginx (proxy /api)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502920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1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922008" y="5248656"/>
            <a:ext cx="82296" cy="4572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5138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54498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→ levanta db + backend + frontend juntos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que vamos a demostrar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historias de usuario encadenadas, tal como las vive el equipo de la óptica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paciente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nombres, teléfono y 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11580" y="4663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1580" y="4663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81528" y="324612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0540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3205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5" name="Text 13"/>
          <p:cNvSpPr/>
          <p:nvPr/>
        </p:nvSpPr>
        <p:spPr>
          <a:xfrm>
            <a:off x="35661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montura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16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stock y precio en el inventario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46220" y="4663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6220" y="4663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16168" y="324612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1F8F7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5180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1551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23" name="Text 21"/>
          <p:cNvSpPr/>
          <p:nvPr/>
        </p:nvSpPr>
        <p:spPr>
          <a:xfrm>
            <a:off x="640080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orden de trabajo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+ montura → estado QUOTATION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80860" y="4663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0860" y="4663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50808" y="324612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052560" y="196596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2E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8982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99898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31" name="Text 29"/>
          <p:cNvSpPr/>
          <p:nvPr/>
        </p:nvSpPr>
        <p:spPr>
          <a:xfrm>
            <a:off x="923544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 descuenta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23544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unidad en la misma transacción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15500" y="4663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A5A52"/>
          </a:solidFill>
          <a:ln/>
        </p:spPr>
      </p:sp>
      <p:sp>
        <p:nvSpPr>
          <p:cNvPr id="34" name="Text 32"/>
          <p:cNvSpPr/>
          <p:nvPr/>
        </p:nvSpPr>
        <p:spPr>
          <a:xfrm>
            <a:off x="9715500" y="4663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0B2B2E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614416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montura no tiene existencias, el sistema rechaza la orden con el error insufficient stock — la regla de negocio vive en el dominio, no en la interfaz.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y roles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real sobre Spring Security, con permisos por rol en cada endpoint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892040" cy="4343400"/>
          </a:xfrm>
          <a:prstGeom prst="roundRect">
            <a:avLst>
              <a:gd name="adj" fmla="val 2947"/>
            </a:avLst>
          </a:prstGeom>
          <a:solidFill>
            <a:srgbClr val="0B2B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3591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+ contraseña (hash BCrypt) contra la tabla 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2" name="Text 10"/>
          <p:cNvSpPr/>
          <p:nvPr/>
        </p:nvSpPr>
        <p:spPr>
          <a:xfrm>
            <a:off x="1371600" y="29443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JWT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278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por TokenProvider, puerto implementado en infrastructure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6" name="Text 14"/>
          <p:cNvSpPr/>
          <p:nvPr/>
        </p:nvSpPr>
        <p:spPr>
          <a:xfrm>
            <a:off x="1371600" y="3813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stateless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0965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se valida por token, sin sesión en servidor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6" dirty="0"/>
          </a:p>
        </p:txBody>
      </p:sp>
      <p:sp>
        <p:nvSpPr>
          <p:cNvPr id="20" name="Text 18"/>
          <p:cNvSpPr/>
          <p:nvPr/>
        </p:nvSpPr>
        <p:spPr>
          <a:xfrm>
            <a:off x="1371600" y="4681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por 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9651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SELLER · OPTOMETRIST — verificado en cada endpoint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15000" y="146304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DEMOSTRACIÓN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F1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929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89320" y="2286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178308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— incluye alta de monturas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288036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F1F8F7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026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89320" y="3383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383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28803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· inventario (ver) · órdenes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3977640"/>
            <a:ext cx="5897880" cy="960120"/>
          </a:xfrm>
          <a:prstGeom prst="roundRect">
            <a:avLst>
              <a:gd name="adj" fmla="val 9524"/>
            </a:avLst>
          </a:prstGeom>
          <a:solidFill>
            <a:srgbClr val="F1F8F7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4123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optometrist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4480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4480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OPTOMETRIST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35240" y="39776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15000" y="5212080"/>
            <a:ext cx="5897880" cy="594360"/>
          </a:xfrm>
          <a:prstGeom prst="roundRect">
            <a:avLst>
              <a:gd name="adj" fmla="val 15385"/>
            </a:avLst>
          </a:prstGeom>
          <a:solidFill>
            <a:srgbClr val="E4F4EF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521208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uniforme: 422 regla de negocio · 400 validación · 401 sin token · 403 rol sin permiso · 404 no existe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123B3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sigue después del MVP 1?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hacia producción — fecha fija: 15 de noviembre de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520440" cy="2651760"/>
          </a:xfrm>
          <a:prstGeom prst="roundRect">
            <a:avLst>
              <a:gd name="adj" fmla="val 4828"/>
            </a:avLst>
          </a:prstGeom>
          <a:solidFill>
            <a:srgbClr val="123B3F"/>
          </a:solidFill>
          <a:ln w="12700">
            <a:solidFill>
              <a:srgbClr val="1E4F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0391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Ahora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532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286207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core: pacientes, fórmulas, órdenes, inventario y facturación básica — validado en una óptica piloto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520440" cy="2651760"/>
          </a:xfrm>
          <a:prstGeom prst="roundRect">
            <a:avLst>
              <a:gd name="adj" fmla="val 4828"/>
            </a:avLst>
          </a:prstGeom>
          <a:solidFill>
            <a:srgbClr val="123B3F"/>
          </a:solidFill>
          <a:ln w="12700">
            <a:solidFill>
              <a:srgbClr val="1E4F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0391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Próximo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5152" y="2532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6–9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286207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paciente (lectura + pagos) y notificaciones automáticas de estado de la orden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520440" cy="2651760"/>
          </a:xfrm>
          <a:prstGeom prst="roundRect">
            <a:avLst>
              <a:gd name="adj" fmla="val 4828"/>
            </a:avLst>
          </a:prstGeom>
          <a:solidFill>
            <a:srgbClr val="123B3F"/>
          </a:solidFill>
          <a:ln w="12700">
            <a:solidFill>
              <a:srgbClr val="1E4F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9912" y="20391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Después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39912" y="2532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10–12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39912" y="286207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Endurecimiento, NFRs, pipeline de despliegue y salida a producción en la fecha comprometida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10972800" cy="0"/>
          </a:xfrm>
          <a:prstGeom prst="line">
            <a:avLst/>
          </a:prstGeom>
          <a:noFill/>
          <a:ln w="12700">
            <a:solidFill>
              <a:srgbClr val="1E4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02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MVP demuestra el flujo completo — paciente, inventario y orden — con reglas de negocio reales y arquitectura lista para crecer.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vamos a la demo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OptiView · MVP 1 — Corte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2026-09-02T20:43:51Z</dcterms:created>
  <dcterms:modified xsi:type="dcterms:W3CDTF">2026-09-02T20:43:51Z</dcterms:modified>
</cp:coreProperties>
</file>